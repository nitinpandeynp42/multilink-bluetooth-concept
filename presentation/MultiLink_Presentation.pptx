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74320"/>
            <a:ext cx="2926080" cy="2926080"/>
          </a:xfrm>
          <a:prstGeom prst="ellipse">
            <a:avLst/>
          </a:prstGeom>
          <a:ln w="12700">
            <a:solidFill>
              <a:srgbClr val="1E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82880"/>
            <a:ext cx="2011680" cy="2011680"/>
          </a:xfrm>
          <a:prstGeom prst="ellipse">
            <a:avLst/>
          </a:prstGeom>
          <a:ln w="12700">
            <a:solidFill>
              <a:srgbClr val="1E3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640080"/>
            <a:ext cx="1097280" cy="1097280"/>
          </a:xfrm>
          <a:prstGeom prst="ellipse">
            <a:avLst/>
          </a:prstGeom>
          <a:ln w="15875">
            <a:solidFill>
              <a:srgbClr val="1E6F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AI-POWERED BLUETOOTH ECOSYSTEM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Everything. Simultaneously.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Licensing Overview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852160"/>
            <a:ext cx="1463040" cy="0"/>
          </a:xfrm>
          <a:prstGeom prst="line">
            <a:avLst/>
          </a:prstGeom>
          <a:noFill/>
          <a:ln w="19050">
            <a:solidFill>
              <a:srgbClr val="1E6FE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phone should connect to everything around it — at once, intelligently, and invisibly.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01E3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044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layers,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coordinated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37033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01E36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39044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2628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capabilities,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add-ons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37033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01E3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39044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standards supported,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through Mesh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wasn't built for how many devices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carry today.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phones handle one or two connections gracefully. Beyond that: manual switching, dropped audio, and unpredictable delay — exactly where the modern user's device count is headed.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0" y="105156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6" name="Shape 4"/>
          <p:cNvSpPr/>
          <p:nvPr/>
        </p:nvSpPr>
        <p:spPr>
          <a:xfrm>
            <a:off x="6355080" y="128930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1E6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289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03720" y="105156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simultaneous audio connections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24942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1E6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201168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disruptive device switching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97180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1E6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297180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prioritization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416966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1E6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393192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conflicts between active devices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489204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5080" y="512978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1E6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489204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latency as devices are added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engine that manages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at once.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MultiLink sits between the OS Bluetooth stack and the applications layer, coordinating connection state, bandwidth, and audio routing across every paired device in real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0" y="105156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6" name="Shape 4"/>
          <p:cNvSpPr/>
          <p:nvPr/>
        </p:nvSpPr>
        <p:spPr>
          <a:xfrm>
            <a:off x="6355080" y="128930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289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105156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multi-device connectivity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24942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201168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priority &amp; scheduling engine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97180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297180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real-time bandwidth allocation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416966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393192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automation by activity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489204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101E3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5080" y="5129784"/>
            <a:ext cx="365760" cy="36576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489204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every connected device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layered for clarity.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owns exactly one job — which is what keeps the system predictable as devices and future Bluetooth standards are added.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569464"/>
            <a:ext cx="1301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953512"/>
            <a:ext cx="130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931920"/>
            <a:ext cx="130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media,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gaming, voice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61032" y="338785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35352" y="242316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6294A"/>
          </a:solidFill>
          <a:ln w="12700">
            <a:solidFill>
              <a:srgbClr val="1E6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9944" y="2569464"/>
            <a:ext cx="1301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99944" y="2953512"/>
            <a:ext cx="130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99944" y="3931920"/>
            <a:ext cx="130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47744" y="338785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22064" y="242316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6656" y="2569464"/>
            <a:ext cx="1301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6656" y="2953512"/>
            <a:ext cx="130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Scheduler +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Manager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6656" y="3931920"/>
            <a:ext cx="130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&amp;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demand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34456" y="338785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8776" y="242316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569464"/>
            <a:ext cx="1301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3368" y="2953512"/>
            <a:ext cx="130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&amp;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Router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73368" y="3931920"/>
            <a:ext cx="130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radio,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streams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21168" y="338785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95488" y="242316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0080" y="2569464"/>
            <a:ext cx="1301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60080" y="2953512"/>
            <a:ext cx="130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Stack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Chip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60080" y="3931920"/>
            <a:ext cx="130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· LE ·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· Auracast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07880" y="338785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82200" y="242316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6792" y="2569464"/>
            <a:ext cx="1301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46792" y="2953512"/>
            <a:ext cx="1301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146792" y="3931920"/>
            <a:ext cx="1301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accessory,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Supports Bluetooth Classic · LE Audio · Multi-Stream Audio · Auracast · Bluetooth Mesh · future standards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KEY FEATURES — CORE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capabilities. Six shown here.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Connectivity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simultaneous active links across Classic and LE radios.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2816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10" name="Shape 8"/>
          <p:cNvSpPr/>
          <p:nvPr/>
        </p:nvSpPr>
        <p:spPr>
          <a:xfrm>
            <a:off x="455676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67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676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Priority Engine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5676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connected devices by predicted importance in real time.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0768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628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62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628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Audio Routing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right stream to the right output automatically.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Bandwidth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Reallocates radio bandwidth so urgent traffic is never starved.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2816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676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6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5676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Optimization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5676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connection intervals on idle links to save charge.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0768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3628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62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628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Encryption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3628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Secure Connections with anomaly detection built in.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KEY FEATURES —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Context-aware, out of the box.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Automation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recurring patterns and pre-connects devices automatically.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2816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10" name="Shape 8"/>
          <p:cNvSpPr/>
          <p:nvPr/>
        </p:nvSpPr>
        <p:spPr>
          <a:xfrm>
            <a:off x="455676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67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676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Mode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5676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 low-latency path for controller and headset instantly.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0768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628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62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628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Mode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call audio to a headset the moment a meeting starts.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Audio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playback across rooms via LE Audio broadcast.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2816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676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6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5676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Integration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5676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control over switching and mode changes.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0768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3628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62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628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Diagnostics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3628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link quality and reconnection history per device.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REAL-WORLD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how people actually move through a 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1E6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Auto-connects speaker, watch, and smart lights on arrival.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816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10" name="Shape 8"/>
          <p:cNvSpPr/>
          <p:nvPr/>
        </p:nvSpPr>
        <p:spPr>
          <a:xfrm>
            <a:off x="455676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1E6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67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676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676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Reconnects dock, keyboard, and mouse while call-ready.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7680" y="18745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6280" y="21031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1E6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62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628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6280" y="30449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hands-free calling and navigation instantly.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1E6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 low-latency path for controller and headset.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816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676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1E6F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6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5676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5676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audio to a headset the instant a call starts.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7680" y="3931920"/>
            <a:ext cx="3505200" cy="1783080"/>
          </a:xfrm>
          <a:prstGeom prst="roundRect">
            <a:avLst>
              <a:gd name="adj" fmla="val 4615"/>
            </a:avLst>
          </a:prstGeom>
          <a:solidFill>
            <a:srgbClr val="101E3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36280" y="416052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1E6F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62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6280" y="4754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36280" y="510235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scanning, reconnects the moment you land.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FOR OUR PARTNERS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OEMs and platform partners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MultiLink.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101E3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587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real differentiator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connectivity experience competitors can't match out of the box.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101E36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60604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587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time-to-market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Licensable SDK and core engine — integrate in months, not years.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101E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5537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lock-in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added device deepens a user's investment in the platform.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101E3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572000"/>
            <a:ext cx="457200" cy="457200"/>
          </a:xfrm>
          <a:prstGeom prst="ellipse">
            <a:avLst/>
          </a:prstGeom>
          <a:solidFill>
            <a:srgbClr val="16294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5537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support burden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5029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diagnostics and analytics cut connectivity support tickets.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standards platforms already trust.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2082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spc="12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80360" y="1920240"/>
            <a:ext cx="996696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192024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41648" y="192024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41648" y="192024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02352" y="1920240"/>
            <a:ext cx="694944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92024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61888" y="1920240"/>
            <a:ext cx="1499616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192024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6096" y="192024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6096" y="19202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8094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spc="12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BLUETOOTH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80360" y="2880360"/>
            <a:ext cx="996696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88036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2880360"/>
            <a:ext cx="493776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28803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0016" y="288036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Audio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61888" y="288036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Auracast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2880360"/>
            <a:ext cx="694944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88036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9410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spc="12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 &amp; CLOUD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80360" y="3840480"/>
            <a:ext cx="1499616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8404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44568" y="384048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4568" y="38404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11112" y="384048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72984" y="384048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72984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34856" y="384048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101E3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34856" y="38404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global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881360" cy="0"/>
          </a:xfrm>
          <a:prstGeom prst="line">
            <a:avLst/>
          </a:prstGeom>
          <a:noFill/>
          <a:ln w="25400">
            <a:solidFill>
              <a:srgbClr val="1E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621024"/>
            <a:ext cx="256032" cy="256032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4572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-457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25624" y="3621024"/>
            <a:ext cx="256032" cy="256032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784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6784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39184" y="3621024"/>
            <a:ext cx="256032" cy="256032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140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8140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52744" y="3621024"/>
            <a:ext cx="256032" cy="256032"/>
          </a:xfrm>
          <a:prstGeom prst="ellipse">
            <a:avLst/>
          </a:prstGeom>
          <a:solidFill>
            <a:srgbClr val="101E36"/>
          </a:solidFill>
          <a:ln w="19050">
            <a:solidFill>
              <a:srgbClr val="1E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66304" y="3621024"/>
            <a:ext cx="256032" cy="256032"/>
          </a:xfrm>
          <a:prstGeom prst="ellipse">
            <a:avLst/>
          </a:prstGeom>
          <a:solidFill>
            <a:srgbClr val="101E36"/>
          </a:solidFill>
          <a:ln w="19050">
            <a:solidFill>
              <a:srgbClr val="1E3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852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085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79864" y="3621024"/>
            <a:ext cx="256032" cy="256032"/>
          </a:xfrm>
          <a:prstGeom prst="ellipse">
            <a:avLst/>
          </a:prstGeom>
          <a:solidFill>
            <a:srgbClr val="101E36"/>
          </a:solidFill>
          <a:ln w="19050">
            <a:solidFill>
              <a:srgbClr val="1E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2208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2208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393424" y="3621024"/>
            <a:ext cx="256032" cy="256032"/>
          </a:xfrm>
          <a:prstGeom prst="ellipse">
            <a:avLst/>
          </a:prstGeom>
          <a:solidFill>
            <a:srgbClr val="101E36"/>
          </a:solidFill>
          <a:ln w="19050">
            <a:solidFill>
              <a:srgbClr val="1E3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3564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3564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937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the Prototype stage, moving toward MVP.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1832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E7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2743200" cy="2743200"/>
          </a:xfrm>
          <a:prstGeom prst="ellipse">
            <a:avLst/>
          </a:prstGeom>
          <a:ln w="12700">
            <a:solidFill>
              <a:srgbClr val="1E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846320"/>
            <a:ext cx="1828800" cy="1828800"/>
          </a:xfrm>
          <a:prstGeom prst="ellipse">
            <a:avLst/>
          </a:prstGeom>
          <a:ln w="12700">
            <a:solidFill>
              <a:srgbClr val="1E3A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connectivity, together.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MultiLink — Connect Everything. Simultaneously.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PARTNERSHIPS · LICENSING · INTEGRATION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2026-07-14T10:46:11Z</dcterms:created>
  <dcterms:modified xsi:type="dcterms:W3CDTF">2026-07-14T10:46:11Z</dcterms:modified>
</cp:coreProperties>
</file>